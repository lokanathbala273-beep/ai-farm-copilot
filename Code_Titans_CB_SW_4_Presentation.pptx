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640080"/>
            <a:ext cx="4937760" cy="384048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🎯 PROBLEM STATEMENT: CB SW 4 • AGRI-TECH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640080"/>
            <a:ext cx="521208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🏆 HACKVERSE 2K26 • ONLINE MID-EVALUATION (GCEK)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</a:defRPr>
            </a:pPr>
            <a:r>
              <a:t>Unified AI Farm Copilot, Risk Intelligence</a:t>
            </a:r>
            <a:br/>
            <a:r>
              <a:t>&amp; Market Optimizer</a:t>
            </a:r>
          </a:p>
          <a:p>
            <a:pPr>
              <a:defRPr sz="1600" b="1">
                <a:solidFill>
                  <a:srgbClr val="10956A"/>
                </a:solidFill>
              </a:defRPr>
            </a:pPr>
            <a:r>
              <a:t>A Connected, Explainable &amp; Multimodal Agricultural Operating System for Indian Farmers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26080"/>
            <a:ext cx="32918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🌾 Module 1: Farm Copilot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Odia, Hindi &amp; English Voice/Text</a:t>
            </a:r>
            <a:br/>
            <a:r>
              <a:t>• Computer Vision Leaf Diagnostics</a:t>
            </a:r>
            <a:br/>
            <a:r>
              <a:t>• History &amp; Weather-Aware Guidance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926080"/>
            <a:ext cx="32918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⚠️ Module 2: Risk Intelligence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Multi-threat early warning models</a:t>
            </a:r>
            <a:br/>
            <a:r>
              <a:t>• Explainable AI ('Why' alerts)</a:t>
            </a:r>
            <a:br/>
            <a:r>
              <a:t>• Urgency ranking &amp; IPM remedies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926080"/>
            <a:ext cx="32918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💰 Module 3: Market Optimizer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21 Odisha APMC Mandi tracker</a:t>
            </a:r>
            <a:br/>
            <a:r>
              <a:t>• Net Profit = Price - Freight - 1.5% Fee</a:t>
            </a:r>
            <a:br/>
            <a:r>
              <a:t>• Sell vs. Hold advisory &amp; direct sale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17720"/>
            <a:ext cx="10332720" cy="1737360"/>
          </a:xfrm>
          <a:prstGeom prst="roundRect">
            <a:avLst/>
          </a:prstGeom>
          <a:solidFill>
            <a:srgbClr val="18212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TEAM: CODE TITANS  |  COLLEGE: GANDHI INSTITUTE OF TECHNOLOGY AND MANAGEMENT (GITAM)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👨‍💻 Team Leader: Swaviman Nayak  •  👨‍💻 Member 2: Lokanath Bala  •  👨‍💻 Member 3: Alok Kumar Swain  •  👨‍💻 Member 4: Gurudatta Ojha</a:t>
            </a:r>
          </a:p>
          <a:p>
            <a:pPr>
              <a:defRPr sz="1050">
                <a:solidFill>
                  <a:srgbClr val="10956A"/>
                </a:solidFill>
              </a:defRPr>
            </a:pPr>
            <a:r>
              <a:t>🌐 Live Application: https://ai-farm-copilot-bfbq.onrender.com   |   💻 GitHub: https://github.com/lokanathbala273-beep/ai-farm-copilot.git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Core Problem: Indian Agriculture's Three Disconnected Silos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34155"/>
                </a:solidFill>
              </a:defRPr>
            </a:pPr>
            <a:r>
              <a:t>A farmer's journey is continuous, yet modern digital farming tools force farmers to stitch together three isolated, disconnected apps with zero shared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❌ SILO 1: ADVISORY GAP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No Personalised Multimodal Guidance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Generic &amp; Text-Heavy: Most tools provide boilerplate advice ignoring local dialect (Odia, Sambalpuri, Hindi).</a:t>
            </a:r>
            <a:br/>
            <a:br/>
            <a:r>
              <a:t>• Ignores Visuals: Farmers cannot speak naturally or upload a damaged leaf photo to get immediate verified dosage.</a:t>
            </a:r>
            <a:br/>
            <a:br/>
            <a:r>
              <a:t>• Memoryless: Solutions forget historical soil chemistry (NPK, pH), prior fertilizer treatments, and crop cycles.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❌ SILO 2: RISK GAP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Late &amp; Unexplained Warnings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Reactive, Not Proactive: Disease outbreaks, pest attacks, and heat stress are flagged only AFTER crops are ruined.</a:t>
            </a:r>
            <a:br/>
            <a:br/>
            <a:r>
              <a:t>• Black-Box Opaque Alerts: Warnings flash red without explaining WHY (e.g. humidity + rainfall + temperature spike).</a:t>
            </a:r>
            <a:br/>
            <a:br/>
            <a:r>
              <a:t>• Lacks Actionability: Farmers receive scary alerts with zero verified, scientifically approved IPM mitigation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❌ SILO 3: MARKET GAP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Blind 'What &amp; Where to Sell' Decisions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Blind Sowing Choices: Farmers plant without forecasting yield potential, seasonal demand, or market glut.</a:t>
            </a:r>
            <a:br/>
            <a:br/>
            <a:r>
              <a:t>• The Mandi Illusion: Distant mandis post higher rates, but transport freight and 1.5% APMC fees wipe out margins.</a:t>
            </a:r>
            <a:br/>
            <a:br/>
            <a:r>
              <a:t>• Sell vs. Hold Dilemma: Farmers sell at panic bottom prices without knowing storage viability and price recovery curves.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Code Titans Solution: A Connected, Single-Platform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3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1069848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64E3B"/>
                </a:solidFill>
              </a:defRPr>
            </a:pPr>
            <a:r>
              <a:t>💡 Single Shared Data Model Across All Modules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Rather than three standalone apps, our engine shares 1 Unified Farmer Profile, Farm GPS Location, Soil History, and Crop Stage across Advisory, Risk, and Market Engines.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33832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🌾 MODULE 1</a:t>
            </a:r>
            <a:br/>
            <a:r>
              <a:t>AI Farm Copilot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Multilingual Natural Voice: Odia, Hindi, English speech-to-text &amp; TTS.</a:t>
            </a:r>
            <a:br/>
            <a:br/>
            <a:r>
              <a:t>• MobileNetV3 Foliar Scanner: In-browser &amp; backend plant disease vision with foliar tissue verification.</a:t>
            </a:r>
            <a:br/>
            <a:br/>
            <a:r>
              <a:t>• Stage-Aware Personalisation: Guidance tailored to sowing, vegetative, flowering, and harvest stages.</a:t>
            </a:r>
            <a:br/>
            <a:br/>
            <a:r>
              <a:t>• Tele-Pathology Escalation: Low confidence scans route to OUAT clinical experts.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3832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⚠️ MODULE 2</a:t>
            </a:r>
            <a:br/>
            <a:r>
              <a:t>Crop Risk Intelligence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Multi-Threat Risk Modeling: Correlates disease, weather, pests, and price risks simultaneously.</a:t>
            </a:r>
            <a:br/>
            <a:br/>
            <a:r>
              <a:t>• Explainable AI (XAI): Transparent causal chain (e.g. '88% Humidity + 28°C = Fungal Risk').</a:t>
            </a:r>
            <a:br/>
            <a:br/>
            <a:r>
              <a:t>• Severity &amp; Urgency Ranking: Prioritizes critical field interventions.</a:t>
            </a:r>
            <a:br/>
            <a:br/>
            <a:r>
              <a:t>• Conversational Feedback: Risk warnings appear automatically in the Copilot stream.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40280"/>
            <a:ext cx="33832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💰 MODULE 3</a:t>
            </a:r>
            <a:br/>
            <a:r>
              <a:t>Farm-to-Market Optimizer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Odisha 21-Mandi Network: Real-time modal price tracking across APMC mandis.</a:t>
            </a:r>
            <a:br/>
            <a:br/>
            <a:r>
              <a:t>• True Net Realization: Deducts distance-based freight and 1.5% statutory mandi tax.</a:t>
            </a:r>
            <a:br/>
            <a:br/>
            <a:r>
              <a:t>• Sell vs. Hold Advisory: Data-backed holding strategy based on price recovery curves.</a:t>
            </a:r>
            <a:br/>
            <a:br/>
            <a:r>
              <a:t>• Direct B2B Marketplace: Trade directly with verified wholesalers and millers.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Module 1: Personalised Multilingual Advisory &amp;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4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52120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064E3B"/>
                </a:solidFill>
              </a:defRPr>
            </a:pPr>
            <a:r>
              <a:t>🎙️ Multilingual Voice &amp; Vernacular AI Assistant</a:t>
            </a:r>
          </a:p>
          <a:p>
            <a:br/>
            <a:pPr>
              <a:defRPr sz="1150">
                <a:solidFill>
                  <a:srgbClr val="334155"/>
                </a:solidFill>
              </a:defRPr>
            </a:pPr>
            <a:r>
              <a:t>• Seamless Vernacular Voice Input: Native Web Speech API integration supporting Odia (ଓଡ଼ିଆ), Hindi (हिंदी), and English with dialect tolerance.</a:t>
            </a:r>
            <a:br/>
            <a:br/>
            <a:r>
              <a:t>• Context-Aware Natural Language Processing: Understands local colloquial agricultural terms (e.g., 'ଖତ', 'ଧାନ ପତ୍ର ପୋଡ଼ା', 'ସାର ପ୍ରୟୋଗ').</a:t>
            </a:r>
            <a:br/>
            <a:br/>
            <a:r>
              <a:t>• Farm History Grounding: Copilot injects farmer's actual acre size (e.g. 6.5 Acres), current crop (e.g. Paddy / Tomato), and recent field sprays into prompt context.</a:t>
            </a:r>
            <a:br/>
            <a:br/>
            <a:r>
              <a:t>• Multichannel Delivery: Accessible via web application and WhatsApp / SMS gateway simulation for low-literacy farmers.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064E3B"/>
                </a:solidFill>
              </a:defRPr>
            </a:pPr>
            <a:r>
              <a:t>📷 AI Foliar Pathology &amp; Computer Vision Scanner</a:t>
            </a:r>
          </a:p>
          <a:p>
            <a:br/>
            <a:pPr>
              <a:defRPr sz="1150">
                <a:solidFill>
                  <a:srgbClr val="334155"/>
                </a:solidFill>
              </a:defRPr>
            </a:pPr>
            <a:r>
              <a:t>• MobileNetV3 / Vision Ensemble: Real-time leaf pathology classification detecting Early Blight, Late Blight, Blast, Bacterial Wilt, and Rust.</a:t>
            </a:r>
            <a:br/>
            <a:br/>
            <a:r>
              <a:t>• Folate Verification Engine (Anti-Hallucination): Computes Excess Green Index (EGI) &amp; HSV chromaticity to verify actual plant tissue before processing (rejects random objects).</a:t>
            </a:r>
            <a:br/>
            <a:br/>
            <a:r>
              <a:t>• ICAR-Verified Clinical Prescriptions: Yields chemical dosage (e.g. Mancozeb 75% WP @ 2g/L) alongside organic neem oil IPM alternatives.</a:t>
            </a:r>
            <a:br/>
            <a:br/>
            <a:r>
              <a:t>• Expert Tele-Pathology Queue: If model confidence &lt; 65%, case automatically routes to agricultural research scientists (e.g. OUAT) for human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Module 2: Crop Risk Intelligence &amp; Explainable Early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5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1069848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B45309"/>
                </a:solidFill>
              </a:defRPr>
            </a:pPr>
            <a:r>
              <a:t>🔍 Explainable AI (XAI) Principle: 'No Black-Box Red Flags'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Every risk warning explicitly articulates CAUSE → EFFECT → MITIGATION. Farmers are never shown an unexplained red alert, building trust and enabling prompt preventive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25146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🦠 Outbreak Risk</a:t>
            </a:r>
            <a:br/>
            <a:r>
              <a:t>(Disease Spores)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• Triggers: Relative Humidity &gt; 85%, Canopy Temp 24-29°C, Consecutive damp days.</a:t>
            </a:r>
            <a:br/>
            <a:br/>
            <a:r>
              <a:t>• Explanation: 'High moisture creates ideal spore germination for fungal blight.'</a:t>
            </a:r>
            <a:br/>
            <a:br/>
            <a:r>
              <a:t>• Action: Preventive systemic fungicide application before symptom eruption.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331720"/>
            <a:ext cx="25146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🐛 Pest Pressure</a:t>
            </a:r>
            <a:br/>
            <a:r>
              <a:t>(Infestation Waves)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• Triggers: Degree-day heat accumulations, vegetative crop tenderness, monsoon breaks.</a:t>
            </a:r>
            <a:br/>
            <a:br/>
            <a:r>
              <a:t>• Explanation: 'Temperature window triggers Stem Borer egg hatchings in Paddy.'</a:t>
            </a:r>
            <a:br/>
            <a:br/>
            <a:r>
              <a:t>• Action: Deploy yellow sticky traps, light traps, and biopesticides immediately.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331720"/>
            <a:ext cx="25146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🌦️ Microclimate Stress</a:t>
            </a:r>
            <a:br/>
            <a:r>
              <a:t>(Weather Extremes)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• Triggers: Live GPS satellite synchronization, sudden downpour or heatwave.</a:t>
            </a:r>
            <a:br/>
            <a:br/>
            <a:r>
              <a:t>• Explanation: 'Forecast predicts 42mm rain in 6h; soil waterlogging expected.'</a:t>
            </a:r>
            <a:br/>
            <a:br/>
            <a:r>
              <a:t>• Action: Open field drainage furrows; postpone fertilizer top-dressing.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2331720"/>
            <a:ext cx="25146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📉 Market Volatility</a:t>
            </a:r>
            <a:br/>
            <a:r>
              <a:t>(Price Crash Risk)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• Triggers: Oversupply arrivals from neighboring districts, seasonal glut.</a:t>
            </a:r>
            <a:br/>
            <a:br/>
            <a:r>
              <a:t>• Explanation: 'Cuttack arrivals surged 40%; price drop expected in 48h.'</a:t>
            </a:r>
            <a:br/>
            <a:br/>
            <a:r>
              <a:t>• Action: Divert produce to Bhubaneswar or utilize local cold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Module 3: Farm-to-Market Optimizer &amp; Logistics Freight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6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📊 The Code Titans True Net Realization Equation: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Net Profit (₹/Qtl) = Mandi Modal Price - [Distance (km) × Freight Rate (₹/km)] - [1.5% Statutory APMC Mandi Fee]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521208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🏛️ 21 Odisha State-Wise APMC/RMC Mandis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Complete Coverage: Real-time price tracking across Cuttack, Bhubaneswar, Sambalpur, Bargarh, Berhampur, Balasore, Jeypore, and 14 other mandis.</a:t>
            </a:r>
            <a:br/>
            <a:br/>
            <a:r>
              <a:t>• Eliminating the 'Gross Price' Trap: A mandi offering ₹2,400/Qtl 80km away may leave the farmer with LESS profit than a local mandi at ₹2,200/Qtl after diesel and loading costs.</a:t>
            </a:r>
            <a:br/>
            <a:br/>
            <a:r>
              <a:t>• Transparent APMC Deductions: Enforces exact 1.5% statutory market committee cess so farmers see 100% authentic cash-in-hand figures.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23160"/>
            <a:ext cx="521208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📈 Sell-vs-Hold Guidance &amp; Direct Marketplace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Algorithmic Hold-or-Sell Decision: Balances commodity perishability against historical 7-day price trajectory curves.</a:t>
            </a:r>
            <a:br/>
            <a:br/>
            <a:r>
              <a:t>• Cold Storage ROI Calculator: Tells farmer whether 15 days in cold storage at ₹80/bag will pay off based on forecasted festival demand.</a:t>
            </a:r>
            <a:br/>
            <a:br/>
            <a:r>
              <a:t>• Direct B2B Wholesaler Marketplace: Verified portal where millers, food processors, and supermarket buyers place direct orders, removing exploitative middleman cuts.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Pre-Sowing Soil Intelligence &amp; Farm Financial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52120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064E3B"/>
                </a:solidFill>
              </a:defRPr>
            </a:pPr>
            <a:r>
              <a:t>🧪 Soil Chemistry &amp; Crop Suitability Matrix</a:t>
            </a:r>
          </a:p>
          <a:p>
            <a:br/>
            <a:pPr>
              <a:defRPr sz="1150">
                <a:solidFill>
                  <a:srgbClr val="334155"/>
                </a:solidFill>
              </a:defRPr>
            </a:pPr>
            <a:r>
              <a:t>• 6-Point Soil Analysis: Calibrates Nitrogen (N), Phosphorus (P), Potassium (K), Soil Organic Carbon (SOC), and pH levels.</a:t>
            </a:r>
            <a:br/>
            <a:br/>
            <a:r>
              <a:t>• Crop Choice Recommendation Engine: Before planting, ranks top matching crops (e.g. Paddy 94%, Tomato 89%, Mustard 76%) based on soil chemistry, seasonal rainfall, and market demand.</a:t>
            </a:r>
            <a:br/>
            <a:br/>
            <a:r>
              <a:t>• Fertilizer Advisory: Calculates precision dosage (Urea, DAP, MOP in kg/acre) preventing both nutrient burn and costly overspending.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B45309"/>
                </a:solidFill>
              </a:defRPr>
            </a:pPr>
            <a:r>
              <a:t>📊 Farm Business Simulator &amp; Voice Expense Logger</a:t>
            </a:r>
          </a:p>
          <a:p>
            <a:br/>
            <a:pPr>
              <a:defRPr sz="1150">
                <a:solidFill>
                  <a:srgbClr val="334155"/>
                </a:solidFill>
              </a:defRPr>
            </a:pPr>
            <a:r>
              <a:t>• Scenario Budget Simulation: Computes full-season capital requirements (Seed, Land Prep, Fertilizers, Labor, Diesel, Transport) vs. projected harvest yields.</a:t>
            </a:r>
            <a:br/>
            <a:br/>
            <a:r>
              <a:t>• Hands-Free Voice Expense Logger: Farmers speak daily cash outflows naturally (e.g. 'ଖତ ପାଇଁ ୧୫୦୦ ଟଙ୍କା ଖର୍ଚ୍ଚ କଲି' / 'I spent 1500 on fertilizer'). System parses category and amount automatically.</a:t>
            </a:r>
            <a:br/>
            <a:br/>
            <a:r>
              <a:t>• Net Margin &amp; P&amp;L Telemetry: Live ledger tracks gross revenue vs. operating expenses, giving smallholders total financial clarity.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Complete Crop-Cycle Coverage: A Farmer's 4-Phase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8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4E3B"/>
                </a:solidFill>
              </a:defRPr>
            </a:pPr>
            <a:r>
              <a:t>PHASE 1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🌱 PRE-SOWING</a:t>
            </a:r>
            <a:br/>
            <a:r>
              <a:t>&amp; PLANNING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✓ Input soil test results (N-P-K, pH).</a:t>
            </a:r>
            <a:br/>
            <a:br/>
            <a:r>
              <a:t>✓ View AI crop suitability ranking matrix.</a:t>
            </a:r>
            <a:br/>
            <a:br/>
            <a:r>
              <a:t>✓ Run farm business budget simulation.</a:t>
            </a:r>
            <a:br/>
            <a:br/>
            <a:r>
              <a:t>✓ Select high-demand crop &amp; purchase certified seeds from Input Store.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28016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956A"/>
                </a:solidFill>
              </a:defRPr>
            </a:pPr>
            <a:r>
              <a:t>PHASE 2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🌿 VEGETATIVE</a:t>
            </a:r>
            <a:br/>
            <a:r>
              <a:t>&amp; GROWTH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✓ Synchronize GPS microclimate weather alerts.</a:t>
            </a:r>
            <a:br/>
            <a:br/>
            <a:r>
              <a:t>✓ Ask AI Copilot in Odia/Hindi for irrigation timing.</a:t>
            </a:r>
            <a:br/>
            <a:br/>
            <a:r>
              <a:t>✓ Log daily field expenses by voice command.</a:t>
            </a:r>
            <a:br/>
            <a:br/>
            <a:r>
              <a:t>✓ Track plot vigour on private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8016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PHASE 3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🛡️ RISK WATCH</a:t>
            </a:r>
            <a:br/>
            <a:r>
              <a:t>&amp; MITIGATION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✓ Receive explainable outbreak alerts.</a:t>
            </a:r>
            <a:br/>
            <a:br/>
            <a:r>
              <a:t>✓ Photograph diseased leaf on AI Scanner.</a:t>
            </a:r>
            <a:br/>
            <a:br/>
            <a:r>
              <a:t>✓ Get instant ICAR-verified dosage prescription.</a:t>
            </a:r>
            <a:br/>
            <a:br/>
            <a:r>
              <a:t>✓ Escalate edge cases to OUAT plant pathologists.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28016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PHASE 4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💰 HARVEST, LOGISTICS &amp; SALE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✓ Check real-time price trends across 21 mandis.</a:t>
            </a:r>
            <a:br/>
            <a:br/>
            <a:r>
              <a:t>✓ Calculate Net Realization minus freight &amp; 1.5% fee.</a:t>
            </a:r>
            <a:br/>
            <a:br/>
            <a:r>
              <a:t>✓ Receive Sell vs. Hold advisory.</a:t>
            </a:r>
            <a:br/>
            <a:br/>
            <a:r>
              <a:t>✓ List harvest on B2B Marketplace for direct wholesale buyer deals.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Lightweight, Scalable &amp; Offline-Resilient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9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10698480" cy="111556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64E3B"/>
                </a:solidFill>
              </a:defRPr>
            </a:pPr>
            <a:r>
              <a:t>📱 1. PRESENTATION &amp; MULTIMODAL CLIENT TIER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Responsive PWA (Mobile-first) • Web Speech API (Odia/Hindi/English Voice Engine) • HTML5 Canvas Leaf Viewfinder • TailwindCSS Micro-UI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96312"/>
            <a:ext cx="10698480" cy="11155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2563EB"/>
                </a:solidFill>
              </a:defRPr>
            </a:pPr>
            <a:r>
              <a:t>⚙️ 2. BACKEND API &amp; ORCHESTRATION ENGINE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FastAPI (Python 3.14 Asynchronous Engine) • Role-Based Auth (Farmer, Expert, Seller, Admin) • Business Simulation Logic • Mandi Freight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58184"/>
            <a:ext cx="10698480" cy="1115568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B45309"/>
                </a:solidFill>
              </a:defRPr>
            </a:pPr>
            <a:r>
              <a:t>🤖 3. AI, COMPUTER VISION &amp; EXPLAINABILITY ENGINE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MobileNetV3 / Vision Ensemble • Excess Green Index (EGI) &amp; HSV Foliar Filter • Disease Severity Segmenter • Explainable Decision Rules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0056"/>
            <a:ext cx="1069848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💾 4. DATA, TELEMETRY &amp; PERSISTENCE TIER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SQLite / PostgreSQL with SQLAlchemy ORM • OpenWeatherMap GPS Microclimate Feeds • 21 Odisha APMC Mandi Datasets • Render Cloud CI/CD Hosting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Hackathon Evaluation Alignment: Meeting Every Problem Statement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10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956A"/>
                </a:solidFill>
              </a:defRPr>
            </a:pPr>
            <a:r>
              <a:t>🎯 True Integration (Not 3 Bolted Apps)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Unified farmer profile, farm acres, and GPS location seamlessly shared across Copilot, Risk, and Market modules under a single persistent database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🗣️ Multimodal &amp; Vernacular Robustness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Real voice recognition in Odia &amp; Hindi, live camera leaf scanning, and low-bandwidth SMS/WhatsApp simulation for maximum rural accessibility.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💡 Explainability Throughout (XAI)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Every risk alert and market forecast transparently communicates the underlying biological and economic causality, not just an opaque conclusion.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2608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🌾 Full End-to-End Crop Cycle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Genuinely spans from pre-sowing soil suitability and budget simulations, to in-season disease mitigation, to post-harvest mandi price optimization.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⚡ Actionability Over Observations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Every scan and alert pairs with concrete, verified ICAR agronomic actions, dosage ratios, and direct market routing rather than mere notifications.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1772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🌐 Deployed &amp; Production-Ready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Fully functional, live on Render Cloud PaaS (ai-farm-copilot-bfbq.onrender.com) and version-controlled on GitHub with 100% passing test suite.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Quantifiable Economic Impact &amp; Future Scalability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11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3383280" cy="1463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64E3B"/>
                </a:solidFill>
              </a:defRPr>
            </a:pPr>
            <a:r>
              <a:t>20% – 35%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Reduction in Crop Loss via 3-Day Early Disease &amp; Weather Outbreak Warnings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383280" cy="1463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15% – 25%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Higher Net Income per Quintal via Logistics &amp; APMC Mandi Freight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383280" cy="1463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B45309"/>
                </a:solidFill>
              </a:defRPr>
            </a:pPr>
            <a:r>
              <a:t>30% Savings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 Input Costs through Precision NPK Dosage and Integrated Pest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106984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🗺️ Strategic Future Roadmap &amp; Ecosystem Expansion</a:t>
            </a:r>
          </a:p>
          <a:p>
            <a:br/>
            <a:pPr>
              <a:defRPr sz="1150">
                <a:solidFill>
                  <a:srgbClr val="334155"/>
                </a:solidFill>
              </a:defRPr>
            </a:pPr>
            <a:r>
              <a:t>• Phase 1 (Current): Deployed web application with Odia/Hindi voice copilot, MobileNetV3 disease vision, 21 Odisha mandis, and tele-pathologist review.</a:t>
            </a:r>
            <a:br/>
            <a:br/>
            <a:r>
              <a:t>• Phase 2 (Next 6 Months): LoRaWAN &amp; ESP32 IoT Soil Telemetry — automated NPK and soil moisture streaming for autonomous irrigation scheduling.</a:t>
            </a:r>
            <a:br/>
            <a:br/>
            <a:r>
              <a:t>• Phase 3 (12 Months): Pan-India APMC Integration — scaling from 21 Odisha mandis to 500+ national mandis across Andhra Pradesh, Telangana, and West Bengal.</a:t>
            </a:r>
            <a:br/>
            <a:br/>
            <a:r>
              <a:t>• Phase 4: FPO (Farmer Producer Organization) Collective Bargaining — bulk truck-sharing aggregation to cut freight costs by an additional 40%.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TEAM CODE TITANS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Gandhi Institute of Technology and Management (GITAM)  •  Problem Statement: CB SW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423160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👑 Swaviman Nayak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Team Leader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System Architecture</a:t>
            </a:r>
            <a:br/>
            <a:r>
              <a:t>• Multi-Threat Risk Modeling</a:t>
            </a:r>
            <a:br/>
            <a:r>
              <a:t>• Full-Stack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645920"/>
            <a:ext cx="2423160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Lokanath Bala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Core AI &amp; Backend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Computer Vision Scanner</a:t>
            </a:r>
            <a:br/>
            <a:r>
              <a:t>• FastAPI &amp; ML Pipelines</a:t>
            </a:r>
            <a:br/>
            <a:r>
              <a:t>• Deployment &amp; DB Schemas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423160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🎨 Alok Kumar Swain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Frontend &amp; Multilingual UX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Odia/Hindi Voice Copilot</a:t>
            </a:r>
            <a:br/>
            <a:r>
              <a:t>• Web Speech API Integration</a:t>
            </a:r>
            <a:br/>
            <a:r>
              <a:t>• PWA Responsive Micro-UI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14816" y="1645920"/>
            <a:ext cx="2423160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📈 Gurudatta Ojha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Data &amp; Agri-Economics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21 Odisha Mandi Freight Matrix</a:t>
            </a:r>
            <a:br/>
            <a:r>
              <a:t>• Net Realization Formula</a:t>
            </a:r>
            <a:br/>
            <a:r>
              <a:t>• Soil &amp; Agronomy Datasets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26280"/>
            <a:ext cx="10332720" cy="1783080"/>
          </a:xfrm>
          <a:prstGeom prst="roundRect">
            <a:avLst/>
          </a:prstGeom>
          <a:solidFill>
            <a:srgbClr val="18212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🚀 PROJECT REPOSITORY &amp; LIVE WORKING PROTOTYPE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🌐 Live Application: https://ai-farm-copilot-bfbq.onrender.com</a:t>
            </a:r>
          </a:p>
          <a:p>
            <a:pPr>
              <a:defRPr sz="1150" b="1">
                <a:solidFill>
                  <a:srgbClr val="ECFDF5"/>
                </a:solidFill>
              </a:defRPr>
            </a:pPr>
            <a:r>
              <a:t>💻 GitHub Repository: https://github.com/lokanathbala273-beep/ai-farm-copilot.git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🙏 Thank You! We are open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